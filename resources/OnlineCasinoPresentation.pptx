
<file path=[Content_Types].xml><?xml version="1.0" encoding="utf-8"?>
<Types xmlns="http://schemas.openxmlformats.org/package/2006/content-types">
  <Default Extension="ico" ContentType="image/x-icon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66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599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ico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950D57F-8E2E-E984-8774-7BE7666E55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0424" y="4750190"/>
            <a:ext cx="212946" cy="20588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1800225"/>
            <a:ext cx="48006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35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Online
Casino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714375" y="3143250"/>
            <a:ext cx="48006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kern="0" spc="2" dirty="0">
                <a:solidFill>
                  <a:srgbClr val="DC14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&amp; DESIGN PROJECT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514975" y="0"/>
            <a:ext cx="3629025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Text 3"/>
          <p:cNvSpPr/>
          <p:nvPr/>
        </p:nvSpPr>
        <p:spPr>
          <a:xfrm>
            <a:off x="5943600" y="1478756"/>
            <a:ext cx="3200400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DC143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PROJECT TEAM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0" y="1862733"/>
            <a:ext cx="32004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Victor Ehrenmüller-Jensen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943600" y="2050256"/>
            <a:ext cx="109478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0A0A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UI-Designer &amp; Frontend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943600" y="2259211"/>
            <a:ext cx="32004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Sebastian Schwingenschuh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43600" y="2446734"/>
            <a:ext cx="109835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0A0A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Frontend &amp; Websockets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0" y="2655689"/>
            <a:ext cx="32004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Felix Zannantoni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43600" y="2843213"/>
            <a:ext cx="12430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0A0A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Game Logic &amp; Websockets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943600" y="3052167"/>
            <a:ext cx="32004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Julian Einzinger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943600" y="3239691"/>
            <a:ext cx="128766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0A0A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DB-Expert &amp; General Admin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425946"/>
            <a:ext cx="3614738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FEATURE SET I: UI &amp; EXPERIENCE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014413" y="1285875"/>
            <a:ext cx="3609547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DC143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Player Dashboard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014413" y="1575197"/>
            <a:ext cx="3609547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overview of statistics, history, and active sessions.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014413" y="2272382"/>
            <a:ext cx="3609547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DC143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Interactive Menu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14413" y="2561704"/>
            <a:ext cx="3609547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Fluid game selection interface with dynamic categories and search.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14413" y="3258889"/>
            <a:ext cx="3609547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DC143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Real-time Updates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14413" y="3548211"/>
            <a:ext cx="3609547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balance and state synchronization across all components.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40855" y="1285875"/>
            <a:ext cx="4286250" cy="2857500"/>
          </a:xfrm>
          <a:prstGeom prst="rect">
            <a:avLst/>
          </a:prstGeom>
          <a:solidFill>
            <a:srgbClr val="F1F1F1"/>
          </a:solidFill>
          <a:ln w="9144">
            <a:solidFill>
              <a:srgbClr val="DC143C"/>
            </a:solidFill>
            <a:prstDash val="dash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8"/>
          <p:cNvSpPr/>
          <p:nvPr/>
        </p:nvSpPr>
        <p:spPr>
          <a:xfrm>
            <a:off x="5138226" y="2251174"/>
            <a:ext cx="3491508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DC143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IMAGE PLACEHOLDER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5730264" y="2844105"/>
            <a:ext cx="230743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DC143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 Main User Interface Screenshot ]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573227" y="3065562"/>
            <a:ext cx="62150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DC143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600 x 400 px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1981" y="425946"/>
            <a:ext cx="3864769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FEATURE SET II: GAME MECHANICS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16895" y="1285875"/>
            <a:ext cx="4286250" cy="2857500"/>
          </a:xfrm>
          <a:prstGeom prst="rect">
            <a:avLst/>
          </a:prstGeom>
          <a:solidFill>
            <a:srgbClr val="F1F1F1"/>
          </a:solidFill>
          <a:ln w="9144">
            <a:solidFill>
              <a:srgbClr val="DC143C"/>
            </a:solidFill>
            <a:prstDash val="dash"/>
          </a:ln>
        </p:spPr>
        <p:txBody>
          <a:bodyPr/>
          <a:lstStyle/>
          <a:p>
            <a:endParaRPr lang="de-AT"/>
          </a:p>
        </p:txBody>
      </p:sp>
      <p:sp>
        <p:nvSpPr>
          <p:cNvPr id="5" name="Text 2"/>
          <p:cNvSpPr/>
          <p:nvPr/>
        </p:nvSpPr>
        <p:spPr>
          <a:xfrm>
            <a:off x="514266" y="2251174"/>
            <a:ext cx="3491508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DC143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IMAGE PLACEHOLDER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377767" y="2844105"/>
            <a:ext cx="176450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DC143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 Gameplay Visualization ]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949267" y="3065562"/>
            <a:ext cx="62150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DC143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600 x 400 px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4520040" y="1285875"/>
            <a:ext cx="3609547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250" dirty="0">
                <a:solidFill>
                  <a:srgbClr val="DC143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Fair Play Algorithms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20040" y="1575197"/>
            <a:ext cx="3609547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betting logic ensuring mathematical fairness and transparency.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20040" y="2272382"/>
            <a:ext cx="3609547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250" dirty="0">
                <a:solidFill>
                  <a:srgbClr val="DC143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Diverse Game Modes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20040" y="2561704"/>
            <a:ext cx="3609547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for Slots, Blackjack, and Roulette with distinct rule sets.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520040" y="3258889"/>
            <a:ext cx="3609547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250" dirty="0">
                <a:solidFill>
                  <a:srgbClr val="DC143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Seamless Transitions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20040" y="3548211"/>
            <a:ext cx="3609547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Smooth handling of game states from betting to result calculation.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425946"/>
            <a:ext cx="432375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FEATURE SET III: BACKEND &amp; SECURITY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014413" y="1285875"/>
            <a:ext cx="3609547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DC143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User Authentication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014413" y="1575197"/>
            <a:ext cx="3609547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login system with encrypted credential storage and session management.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014413" y="2272382"/>
            <a:ext cx="3609547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DC143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Data Encryption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14413" y="2561704"/>
            <a:ext cx="3609547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encryption for all financial transactions and sensitive user data.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14413" y="3258889"/>
            <a:ext cx="3609547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DC143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Websocket Sync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14413" y="3548211"/>
            <a:ext cx="3609547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Low-latency bidirectional communication for real-time game state updates.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40855" y="1285875"/>
            <a:ext cx="4286250" cy="2857500"/>
          </a:xfrm>
          <a:prstGeom prst="rect">
            <a:avLst/>
          </a:prstGeom>
          <a:solidFill>
            <a:srgbClr val="F1F1F1"/>
          </a:solidFill>
          <a:ln w="9144">
            <a:solidFill>
              <a:srgbClr val="DC143C"/>
            </a:solidFill>
            <a:prstDash val="dash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8"/>
          <p:cNvSpPr/>
          <p:nvPr/>
        </p:nvSpPr>
        <p:spPr>
          <a:xfrm>
            <a:off x="5138226" y="2251174"/>
            <a:ext cx="3491508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DC143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IMAGE PLACEHOLDER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5832063" y="2844105"/>
            <a:ext cx="210383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DC143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 System Architecture Diagram ]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573227" y="3065562"/>
            <a:ext cx="62150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DC143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600 x 400 px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425946"/>
            <a:ext cx="3075384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CODE SNIPPET I: FRONTEND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14375" y="1285875"/>
            <a:ext cx="320040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DC143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REACTIVE UI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714375" y="1484114"/>
            <a:ext cx="32004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of dynamic components that respond to state changes instantly.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14375" y="2181299"/>
            <a:ext cx="320040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DC143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WEBSOCKETS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14375" y="2379538"/>
            <a:ext cx="32004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communication layer for low-latency game updates.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993356" y="1285875"/>
            <a:ext cx="4643438" cy="3214688"/>
          </a:xfrm>
          <a:prstGeom prst="rect">
            <a:avLst/>
          </a:prstGeom>
          <a:solidFill>
            <a:srgbClr val="F1F1F1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6"/>
          <p:cNvSpPr/>
          <p:nvPr/>
        </p:nvSpPr>
        <p:spPr>
          <a:xfrm>
            <a:off x="4207669" y="1500188"/>
            <a:ext cx="4429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75757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WebSocket connection &amp; state update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207669" y="1671638"/>
            <a:ext cx="4429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DC143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const</a:t>
            </a:r>
            <a:r>
              <a:rPr lang="en-US" sz="8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socket = </a:t>
            </a:r>
            <a:r>
              <a:rPr lang="en-US" sz="850" dirty="0">
                <a:solidFill>
                  <a:srgbClr val="DC143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new</a:t>
            </a:r>
            <a:r>
              <a:rPr lang="en-US" sz="8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WebSocket(</a:t>
            </a:r>
            <a:r>
              <a:rPr lang="en-US" sz="850" dirty="0">
                <a:solidFill>
                  <a:srgbClr val="2E7D3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'ws://casino.api'</a:t>
            </a:r>
            <a:r>
              <a:rPr lang="en-US" sz="8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);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207669" y="2014538"/>
            <a:ext cx="4429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socket.onmessage = (event) =&gt; {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207669" y="2185988"/>
            <a:ext cx="4429125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DC143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const</a:t>
            </a:r>
            <a:r>
              <a:rPr lang="en-US" sz="8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data = JSON.parse(event.data);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350544" y="2368153"/>
            <a:ext cx="196810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75757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Trigger reactive UI update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207669" y="2528888"/>
            <a:ext cx="4429125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updateGameState(data);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207669" y="2700338"/>
            <a:ext cx="4429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};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207669" y="3043238"/>
            <a:ext cx="4429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DC143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function</a:t>
            </a:r>
            <a:r>
              <a:rPr lang="en-US" sz="8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updateGameState(state) {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207669" y="3214688"/>
            <a:ext cx="4429125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renderBalance(state.balance);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207669" y="3386138"/>
            <a:ext cx="4429125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renderTable(state.activeGame);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207669" y="3557588"/>
            <a:ext cx="4429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425946"/>
            <a:ext cx="3332559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CODE SNIPPET II: GAME LOGIC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14375" y="1285875"/>
            <a:ext cx="320040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DC143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Secure Randomness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14375" y="1610916"/>
            <a:ext cx="32004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of cryptographically strong random number generation to ensure absolute fairness in game outcomes.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14375" y="2513819"/>
            <a:ext cx="320040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DC143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Server-Side Validation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14375" y="2838859"/>
            <a:ext cx="32004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game logic is executed and validated on the server to prevent client-side manipulation.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993356" y="1285875"/>
            <a:ext cx="4643438" cy="3857625"/>
          </a:xfrm>
          <a:prstGeom prst="rect">
            <a:avLst/>
          </a:prstGeom>
          <a:solidFill>
            <a:srgbClr val="F1F1F1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Shape 6"/>
          <p:cNvSpPr/>
          <p:nvPr/>
        </p:nvSpPr>
        <p:spPr>
          <a:xfrm>
            <a:off x="7808119" y="1285875"/>
            <a:ext cx="828675" cy="185738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7"/>
          <p:cNvSpPr/>
          <p:nvPr/>
        </p:nvSpPr>
        <p:spPr>
          <a:xfrm>
            <a:off x="7808119" y="1285875"/>
            <a:ext cx="828675" cy="18573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dirty="0">
                <a:solidFill>
                  <a:srgbClr val="F8F9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JAVA / BACKEND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4207669" y="1510903"/>
            <a:ext cx="24431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7A7A7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Core algorithms for game outcomes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207669" y="1682353"/>
            <a:ext cx="24431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7A7A7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Example: Random number generation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207669" y="2025253"/>
            <a:ext cx="8143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DC143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public class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022056" y="2025253"/>
            <a:ext cx="88225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GameEngine {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207669" y="2196703"/>
            <a:ext cx="6786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DC143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public int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886325" y="2196703"/>
            <a:ext cx="128944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generateResult() {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207669" y="2368153"/>
            <a:ext cx="4071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DC143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return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614863" y="2368153"/>
            <a:ext cx="88225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SecureRandom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207669" y="2539603"/>
            <a:ext cx="13573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.getInstanceStrong()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207669" y="2711053"/>
            <a:ext cx="88225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.nextInt(37);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207669" y="2882503"/>
            <a:ext cx="678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207669" y="3053953"/>
            <a:ext cx="678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354509"/>
            <a:ext cx="5173861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CODE SNIPPET III: DATABASE &amp; TRANSACTIONS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000125" y="1000125"/>
            <a:ext cx="7143750" cy="2586038"/>
          </a:xfrm>
          <a:prstGeom prst="rect">
            <a:avLst/>
          </a:prstGeom>
          <a:solidFill>
            <a:srgbClr val="F1F1F1"/>
          </a:solidFill>
          <a:ln w="9144">
            <a:solidFill>
              <a:srgbClr val="DC143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5" name="Shape 2"/>
          <p:cNvSpPr/>
          <p:nvPr/>
        </p:nvSpPr>
        <p:spPr>
          <a:xfrm>
            <a:off x="1143000" y="892969"/>
            <a:ext cx="1185863" cy="221456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Text 3"/>
          <p:cNvSpPr/>
          <p:nvPr/>
        </p:nvSpPr>
        <p:spPr>
          <a:xfrm>
            <a:off x="1143000" y="892969"/>
            <a:ext cx="1185863" cy="221456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SQL / POSTGRESQL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1285875" y="1226939"/>
            <a:ext cx="377190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88888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-- Secure balance update and history logging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285875" y="1441252"/>
            <a:ext cx="4286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DC143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BEGIN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714500" y="1441252"/>
            <a:ext cx="857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285875" y="1869877"/>
            <a:ext cx="5143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DC143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UPDATE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800225" y="1869877"/>
            <a:ext cx="128587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player_balance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285875" y="2084189"/>
            <a:ext cx="25717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DC143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SET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543050" y="2084189"/>
            <a:ext cx="197167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balance = balance - 10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285875" y="2298502"/>
            <a:ext cx="4286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DC143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WHERE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714500" y="2298502"/>
            <a:ext cx="11144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player_id =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828925" y="2298502"/>
            <a:ext cx="857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E7D3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000375" y="2298502"/>
            <a:ext cx="25717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DC143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AND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257550" y="2298502"/>
            <a:ext cx="102870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balance &gt;=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286250" y="2298502"/>
            <a:ext cx="1714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E7D3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10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457700" y="2298502"/>
            <a:ext cx="857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285875" y="2727127"/>
            <a:ext cx="94297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DC143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INSERT INTO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228850" y="2727127"/>
            <a:ext cx="368617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bet_history (player_id, amount, timestamp)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285875" y="2941439"/>
            <a:ext cx="5143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DC143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VALUES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800225" y="2941439"/>
            <a:ext cx="1714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971675" y="2941439"/>
            <a:ext cx="857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E7D3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2057400" y="2941439"/>
            <a:ext cx="1714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2228850" y="2941439"/>
            <a:ext cx="1714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E7D32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10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2400300" y="2941439"/>
            <a:ext cx="1714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2571750" y="2941439"/>
            <a:ext cx="25717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DC143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NOW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2828925" y="2941439"/>
            <a:ext cx="34290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());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1285875" y="3370064"/>
            <a:ext cx="5143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DC143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COMMIT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800225" y="3370064"/>
            <a:ext cx="857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000125" y="3907631"/>
            <a:ext cx="2238366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143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Atomic Transactions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00125" y="4143375"/>
            <a:ext cx="223836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that balance updates and history entries either both succeed or both fail.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3452803" y="3907631"/>
            <a:ext cx="2238366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143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Integrity Checks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3452803" y="4143375"/>
            <a:ext cx="223836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 updates prevent negative balances at the database level.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5905481" y="3907631"/>
            <a:ext cx="2238366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143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Audit Trail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905481" y="4143375"/>
            <a:ext cx="223836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timestamping for every transaction to maintain a reliable betting history.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11930" y="1552449"/>
            <a:ext cx="1320140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kern="0" spc="3" dirty="0">
                <a:solidFill>
                  <a:srgbClr val="DC143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SYSTEM SHOWCASE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3346847" y="1884164"/>
            <a:ext cx="2450306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750" b="1" kern="0" spc="-2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LIVE DEMO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928688" y="3139678"/>
            <a:ext cx="214312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143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Application Walkthrough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28688" y="3448645"/>
            <a:ext cx="2143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Step-by-step tour of the user journey from registration to gameplay.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500438" y="3139678"/>
            <a:ext cx="214312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143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Real-time Features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500438" y="3448645"/>
            <a:ext cx="21431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Demonstration of live websocket updates and instant balance synchronization.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072188" y="3139678"/>
            <a:ext cx="214312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143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Interactive Q&amp;A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72188" y="3448645"/>
            <a:ext cx="2143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discussion and technical deep-dive during the live session.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1796653"/>
            <a:ext cx="48006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35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Danke für Ihre
Aufmerksamkeit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714375" y="3139678"/>
            <a:ext cx="48006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kern="0" spc="2" dirty="0">
                <a:solidFill>
                  <a:srgbClr val="DC14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&amp; FEEDBACK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514975" y="0"/>
            <a:ext cx="3629025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de-AT" dirty="0"/>
          </a:p>
        </p:txBody>
      </p:sp>
      <p:sp>
        <p:nvSpPr>
          <p:cNvPr id="6" name="Text 3"/>
          <p:cNvSpPr/>
          <p:nvPr/>
        </p:nvSpPr>
        <p:spPr>
          <a:xfrm>
            <a:off x="5943600" y="1573411"/>
            <a:ext cx="3200400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DC143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GET IN TOUCH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0" y="2472141"/>
            <a:ext cx="32004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1" dirty="0">
                <a:solidFill>
                  <a:srgbClr val="A0A0A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PROJECT REPOSITORY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943600" y="2629304"/>
            <a:ext cx="2971800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https://github.com/2526-3ahif-syp-wmc/OnlineCasino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43600" y="2981133"/>
            <a:ext cx="3200400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1" dirty="0">
                <a:solidFill>
                  <a:srgbClr val="A0A0A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WEBSITE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943600" y="3138295"/>
            <a:ext cx="2834640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0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https://if230168.cloud.htl-leonding.ac.at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560</Words>
  <Application>Microsoft Office PowerPoint</Application>
  <PresentationFormat>Bildschirmpräsentation (16:9)</PresentationFormat>
  <Paragraphs>133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6" baseType="lpstr">
      <vt:lpstr>Arial</vt:lpstr>
      <vt:lpstr>Fira Code</vt:lpstr>
      <vt:lpstr>Inter</vt:lpstr>
      <vt:lpstr>Inter Light</vt:lpstr>
      <vt:lpstr>Space Grotesk Bold</vt:lpstr>
      <vt:lpstr>Space Grotesk Medium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Ehrenmüller-Jensen Victor</cp:lastModifiedBy>
  <cp:revision>2</cp:revision>
  <dcterms:created xsi:type="dcterms:W3CDTF">2026-06-16T08:15:36Z</dcterms:created>
  <dcterms:modified xsi:type="dcterms:W3CDTF">2026-06-16T08:21:49Z</dcterms:modified>
</cp:coreProperties>
</file>